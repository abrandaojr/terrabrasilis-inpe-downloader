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B5E20"/>
                </a:solidFill>
                <a:latin typeface="Arial"/>
              </a:rPr>
              <a:t>PT-BR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7772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11111"/>
                </a:solidFill>
                <a:latin typeface="Georgia"/>
              </a:rPr>
              <a:t>Desmatamento no Brasil</a:t>
            </a:r>
          </a:p>
          <a:p>
            <a:pPr algn="l"/>
            <a:r>
              <a:rPr sz="3000" b="1" i="0">
                <a:solidFill>
                  <a:srgbClr val="111111"/>
                </a:solidFill>
                <a:latin typeface="Georgia"/>
              </a:rPr>
              <a:t>Caiu — Mas Ainda Não Chega.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514600"/>
            <a:ext cx="2560320" cy="502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670048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Dados PRODES · INPE  |  Apresentação para a Imprensa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182112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  <a:latin typeface="Arial"/>
              </a:rPr>
              <a:t>Imazon — Instituto do Homem e Meio Ambiente da Amazônia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B5E20"/>
                </a:solidFill>
                <a:latin typeface="Arial"/>
              </a:rPr>
              <a:t>AMAZÔNIA LEGAL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29768"/>
            <a:ext cx="8503920" cy="45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3474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0" b="1" i="0">
                <a:solidFill>
                  <a:srgbClr val="2E7D32"/>
                </a:solidFill>
                <a:latin typeface="Arial"/>
              </a:rPr>
              <a:t>99%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737360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111"/>
                </a:solidFill>
                <a:latin typeface="Arial"/>
              </a:rPr>
              <a:t>O desmatamento na Amazônia Legal caiu 99% em 18 anos.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450592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/>
              </a:rPr>
              <a:t>De 7.509.061 km² em 2007 para 44.620 km² em 2025 — menor área desmatada desde 2000.</a:t>
            </a:r>
          </a:p>
          <a:p>
            <a:pPr algn="l"/>
            <a:r>
              <a:rPr sz="1050" b="0" i="0">
                <a:solidFill>
                  <a:srgbClr val="555555"/>
                </a:solidFill>
                <a:latin typeface="Arial"/>
              </a:rPr>
              <a:t>Ainda assim, 11.2× a meta estabelecida para 2028.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864608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99999"/>
                </a:solidFill>
                <a:latin typeface="Arial"/>
              </a:rPr>
              <a:t>Fonte: INPE/PRODES · Calculado a partir dos dados GeoParquet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B5E20"/>
                </a:solidFill>
                <a:latin typeface="Arial"/>
              </a:rPr>
              <a:t>AMAZÔNIA LEGAL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29768"/>
            <a:ext cx="8503920" cy="45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75488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11111"/>
                </a:solidFill>
                <a:latin typeface="Arial"/>
              </a:rPr>
              <a:t>Pico em 2007, queda constante desde então — meta ainda distante.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rial"/>
              </a:rPr>
              <a:t>Desmatamento anual na Amazônia Legal (km²)  ·  2000–2028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81328"/>
            <a:ext cx="8778240" cy="38216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4864608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99999"/>
                </a:solidFill>
                <a:latin typeface="Arial"/>
              </a:rPr>
              <a:t>Fonte: INPE/PRODES · Calculado a partir dos dados GeoParquet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B5E20"/>
                </a:solidFill>
                <a:latin typeface="Arial"/>
              </a:rPr>
              <a:t>POR BIOMA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29768"/>
            <a:ext cx="8503920" cy="45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75488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11111"/>
                </a:solidFill>
                <a:latin typeface="Arial"/>
              </a:rPr>
              <a:t>O Cerrado perde tanto quanto a Amazônia — e recebe menos atenção.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rial"/>
              </a:rPr>
              <a:t>Desmatamento por bioma brasileiro (km²)  ·  2025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81328"/>
            <a:ext cx="8412480" cy="34274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4864608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99999"/>
                </a:solidFill>
                <a:latin typeface="Arial"/>
              </a:rPr>
              <a:t>Fonte: INPE/PRODES · Calculado a partir dos dados GeoParquet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B5E20"/>
                </a:solidFill>
                <a:latin typeface="Arial"/>
              </a:rPr>
              <a:t>CERRADO EM FOCO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29768"/>
            <a:ext cx="8503920" cy="45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75488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11111"/>
                </a:solidFill>
                <a:latin typeface="Arial"/>
              </a:rPr>
              <a:t>O Cerrado é o bioma brasileiro mais ameaçado proporcionalmente.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53312"/>
            <a:ext cx="3977639" cy="1783080"/>
          </a:xfrm>
          <a:prstGeom prst="rect">
            <a:avLst/>
          </a:prstGeom>
          <a:solidFill>
            <a:srgbClr val="FFF8E1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44752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C0392B"/>
                </a:solidFill>
                <a:latin typeface="Arial"/>
              </a:rPr>
              <a:t>36.176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Arial"/>
              </a:rPr>
              <a:t>km² desmatados no Cerrado</a:t>
            </a:r>
          </a:p>
          <a:p>
            <a:pPr algn="l"/>
            <a:r>
              <a:rPr sz="950" b="0" i="0">
                <a:solidFill>
                  <a:srgbClr val="555555"/>
                </a:solidFill>
                <a:latin typeface="Arial"/>
              </a:rPr>
              <a:t>— quase o mesmo que a Amazônia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353312"/>
            <a:ext cx="3977639" cy="1783080"/>
          </a:xfrm>
          <a:prstGeom prst="rect">
            <a:avLst/>
          </a:prstGeom>
          <a:solidFill>
            <a:srgbClr val="FFF8E1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444752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C0392B"/>
                </a:solidFill>
                <a:latin typeface="Arial"/>
              </a:rPr>
              <a:t>53%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176272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Arial"/>
              </a:rPr>
              <a:t>de cobertura original remanescente</a:t>
            </a:r>
          </a:p>
          <a:p>
            <a:pPr algn="l"/>
            <a:r>
              <a:rPr sz="950" b="0" i="0">
                <a:solidFill>
                  <a:srgbClr val="555555"/>
                </a:solidFill>
                <a:latin typeface="Arial"/>
              </a:rPr>
              <a:t>— Mata Atlântica já perdeu 87%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2461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Arial"/>
              </a:rPr>
              <a:t>O Cerrado abriga 5% da biodiversidade mundial e regula o ciclo hídrico das principais bacias hidrográficas do Brasil. Recebe menos de 10% dos recursos do Fundo Amazônia.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864608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99999"/>
                </a:solidFill>
                <a:latin typeface="Arial"/>
              </a:rPr>
              <a:t>Fonte: INPE/PRODES · Calculado a partir dos dados GeoParquet  ·  MapBiomas 2023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B5E20"/>
                </a:solidFill>
                <a:latin typeface="Arial"/>
              </a:rPr>
              <a:t>COBERTURA FLORESTAL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29768"/>
            <a:ext cx="8503920" cy="45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75488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11111"/>
                </a:solidFill>
                <a:latin typeface="Arial"/>
              </a:rPr>
              <a:t>Mata Atlântica: 13% restam. Pantanal: 86%. Cerrado: 53%.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rial"/>
              </a:rPr>
              <a:t>Vegetação nativa remanescente por bioma (% da área original)  ·  MapBiomas 2023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81328"/>
            <a:ext cx="8412480" cy="34274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4864608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99999"/>
                </a:solidFill>
                <a:latin typeface="Arial"/>
              </a:rPr>
              <a:t>Fonte: MapBiomas 2023 · Mapeamento Anual da Cobertura e Uso da Terra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B5E20"/>
                </a:solidFill>
                <a:latin typeface="Arial"/>
              </a:rPr>
              <a:t>META 2028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29768"/>
            <a:ext cx="8503920" cy="45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75488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11111"/>
                </a:solidFill>
                <a:latin typeface="Arial"/>
              </a:rPr>
              <a:t>A meta de 4000 km² para 2028 exige reduzir mais 91%.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rial"/>
              </a:rPr>
              <a:t>Trajetória observada e meta de redução (km²)  ·  2000–2028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81328"/>
            <a:ext cx="8778240" cy="38655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4864608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99999"/>
                </a:solidFill>
                <a:latin typeface="Arial"/>
              </a:rPr>
              <a:t>Fonte: INPE/PRODES · Calculado a partir dos dados GeoParquet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B5E20"/>
                </a:solidFill>
                <a:latin typeface="Arial"/>
              </a:rPr>
              <a:t>CONTEXTO GLOBAL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29768"/>
            <a:ext cx="8503920" cy="45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75488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11111"/>
                </a:solidFill>
                <a:latin typeface="Arial"/>
              </a:rPr>
              <a:t>Brasil lidera a queda — mas ainda é o maior desmatador tropical.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rial"/>
              </a:rPr>
              <a:t>Perda de floresta tropical por país (km²)  ·  2023  ·  Fonte: GFW / FAO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81328"/>
            <a:ext cx="8412480" cy="314345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443484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999999"/>
                </a:solidFill>
                <a:latin typeface="Arial"/>
              </a:rPr>
              <a:t>* GFW mede perda de cobertura arbórea; PRODES mede desmatamento. Metodologias distintas.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864608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99999"/>
                </a:solidFill>
                <a:latin typeface="Arial"/>
              </a:rPr>
              <a:t>Fonte: Global Forest Watch / FAO 2023 · Dados aproximados — metodologias distintas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B5E20"/>
                </a:solidFill>
                <a:latin typeface="Arial"/>
              </a:rPr>
              <a:t>CAUSAS &amp; RISCOS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29768"/>
            <a:ext cx="8503920" cy="45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75488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11111"/>
                </a:solidFill>
                <a:latin typeface="Arial"/>
              </a:rPr>
              <a:t>O que explica a queda — e o que pode revertê-la.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5331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Arial"/>
              </a:rPr>
              <a:t>▲  Fiscalização reforçada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9164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Arial"/>
              </a:rPr>
              <a:t>Ibama e PF multiplicaram autuações e embargos desde 2023. Operações coordenadas reduziram o desmatamento ilegal.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49631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Arial"/>
              </a:rPr>
              <a:t>▲  Financiamento climático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83464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Arial"/>
              </a:rPr>
              <a:t>Fundo Amazônia recebeu +R$ 3 bi em 2023–24 (Noruega, Alemanha, EUA). Primeira fase do REDD+ Amazon operacional.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63931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Arial"/>
              </a:rPr>
              <a:t>▼  Risco: anistia fundiária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977639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Arial"/>
              </a:rPr>
              <a:t>Projetos de lei que regularizam desmatamentos ilegais antes de 2008 ameaçam criar incentivos para novos crimes ambientais.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rial"/>
              </a:rPr>
              <a:t>MENSAGENS-CHAVE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01752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Três mensagens desta apresentação.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24128"/>
            <a:ext cx="8631936" cy="117043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024128"/>
            <a:ext cx="347472" cy="117043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" y="1371600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115568"/>
            <a:ext cx="8092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Arial"/>
              </a:rPr>
              <a:t>A queda de 99% é real — mas frágil.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99616"/>
            <a:ext cx="8092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Arial"/>
              </a:rPr>
              <a:t>A redução desde 2007 é histórica. Qualquer mudança na política de fiscalização pode revertê-la rapidamente.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2322576"/>
            <a:ext cx="8631936" cy="117043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2322576"/>
            <a:ext cx="347472" cy="117043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" y="2670048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14016"/>
            <a:ext cx="8092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Arial"/>
              </a:rPr>
              <a:t>O Cerrado está em crise silenciosa.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798064"/>
            <a:ext cx="8092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Arial"/>
              </a:rPr>
              <a:t>Perde tanto quanto a Amazônia, tem 53% de cobertura original e recebe proporcionalmente muito menos recursos e atenção.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3621024"/>
            <a:ext cx="8631936" cy="117043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3621024"/>
            <a:ext cx="347472" cy="117043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" y="3968496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712463"/>
            <a:ext cx="8092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Arial"/>
              </a:rPr>
              <a:t>A meta de 4.000 km² em 2028 exige ação agora.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096512"/>
            <a:ext cx="8092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Arial"/>
              </a:rPr>
              <a:t>Para chegar à meta, o Brasil precisa reduzir mais 91% nos próximos três anos. O tempo está curto.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D47A1"/>
                </a:solidFill>
                <a:latin typeface="Arial"/>
              </a:rPr>
              <a:t>EN-US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7772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11111"/>
                </a:solidFill>
                <a:latin typeface="Georgia"/>
              </a:rPr>
              <a:t>Brazil's Deforestation</a:t>
            </a:r>
          </a:p>
          <a:p>
            <a:pPr algn="l"/>
            <a:r>
              <a:rPr sz="3000" b="1" i="0">
                <a:solidFill>
                  <a:srgbClr val="111111"/>
                </a:solidFill>
                <a:latin typeface="Georgia"/>
              </a:rPr>
              <a:t>Is Down — But Not Enough.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514600"/>
            <a:ext cx="2560320" cy="502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670048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PRODES · INPE Data  |  Press Briefing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182112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  <a:latin typeface="Arial"/>
              </a:rPr>
              <a:t>Imazon — Institute for People and the Environment in Amazonia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D47A1"/>
                </a:solidFill>
                <a:latin typeface="Arial"/>
              </a:rPr>
              <a:t>LEGAL AMAZON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29768"/>
            <a:ext cx="8503920" cy="45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02920"/>
            <a:ext cx="3474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0" b="1" i="0">
                <a:solidFill>
                  <a:srgbClr val="2E7D32"/>
                </a:solidFill>
                <a:latin typeface="Arial"/>
              </a:rPr>
              <a:t>99%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737360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111"/>
                </a:solidFill>
                <a:latin typeface="Arial"/>
              </a:rPr>
              <a:t>Amazon deforestation fell 99% in 18 years.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450592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/>
              </a:rPr>
              <a:t>From 7,509,061 km² in 2007 to 44,620 km² in 2025 — lowest figure since 2000.</a:t>
            </a:r>
          </a:p>
          <a:p>
            <a:pPr algn="l"/>
            <a:r>
              <a:rPr sz="1050" b="0" i="0">
                <a:solidFill>
                  <a:srgbClr val="555555"/>
                </a:solidFill>
                <a:latin typeface="Arial"/>
              </a:rPr>
              <a:t>Yet still 11.2× the target set for 2028.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864608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99999"/>
                </a:solidFill>
                <a:latin typeface="Arial"/>
              </a:rPr>
              <a:t>Source: INPE/PRODES · Calculated from GeoParquet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D47A1"/>
                </a:solidFill>
                <a:latin typeface="Arial"/>
              </a:rPr>
              <a:t>LEGAL AMAZON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29768"/>
            <a:ext cx="8503920" cy="45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75488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11111"/>
                </a:solidFill>
                <a:latin typeface="Arial"/>
              </a:rPr>
              <a:t>Peak in 2007, steady decline since — but the 2028 target remains out of reach.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rial"/>
              </a:rPr>
              <a:t>Annual deforestation in Brazil's Legal Amazon (km²)  ·  2000–2028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81328"/>
            <a:ext cx="8778240" cy="38216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4864608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99999"/>
                </a:solidFill>
                <a:latin typeface="Arial"/>
              </a:rPr>
              <a:t>Source: INPE/PRODES · Calculated from GeoParquet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D47A1"/>
                </a:solidFill>
                <a:latin typeface="Arial"/>
              </a:rPr>
              <a:t>BY BIOME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29768"/>
            <a:ext cx="8503920" cy="45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75488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11111"/>
                </a:solidFill>
                <a:latin typeface="Arial"/>
              </a:rPr>
              <a:t>The Cerrado loses as much as the Amazon — and gets far less attention.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rial"/>
              </a:rPr>
              <a:t>Deforestation by Brazilian biome (km²)  ·  2025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81328"/>
            <a:ext cx="8412480" cy="34274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4864608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99999"/>
                </a:solidFill>
                <a:latin typeface="Arial"/>
              </a:rPr>
              <a:t>Source: INPE/PRODES · Calculated from GeoParquet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D47A1"/>
                </a:solidFill>
                <a:latin typeface="Arial"/>
              </a:rPr>
              <a:t>CERRADO SPOTLIGHT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29768"/>
            <a:ext cx="8503920" cy="45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75488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11111"/>
                </a:solidFill>
                <a:latin typeface="Arial"/>
              </a:rPr>
              <a:t>The Cerrado is Brazil's most proportionally threatened biome.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53312"/>
            <a:ext cx="3977639" cy="1783080"/>
          </a:xfrm>
          <a:prstGeom prst="rect">
            <a:avLst/>
          </a:prstGeom>
          <a:solidFill>
            <a:srgbClr val="FFF8E1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44752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C0392B"/>
                </a:solidFill>
                <a:latin typeface="Arial"/>
              </a:rPr>
              <a:t>36,176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Arial"/>
              </a:rPr>
              <a:t>km² deforested in the Cerrado</a:t>
            </a:r>
          </a:p>
          <a:p>
            <a:pPr algn="l"/>
            <a:r>
              <a:rPr sz="950" b="0" i="0">
                <a:solidFill>
                  <a:srgbClr val="555555"/>
                </a:solidFill>
                <a:latin typeface="Arial"/>
              </a:rPr>
              <a:t>— almost as much as the Amazon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353312"/>
            <a:ext cx="3977639" cy="1783080"/>
          </a:xfrm>
          <a:prstGeom prst="rect">
            <a:avLst/>
          </a:prstGeom>
          <a:solidFill>
            <a:srgbClr val="FFF8E1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444752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C0392B"/>
                </a:solidFill>
                <a:latin typeface="Arial"/>
              </a:rPr>
              <a:t>53%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176272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Arial"/>
              </a:rPr>
              <a:t>of original cover remaining</a:t>
            </a:r>
          </a:p>
          <a:p>
            <a:pPr algn="l"/>
            <a:r>
              <a:rPr sz="950" b="0" i="0">
                <a:solidFill>
                  <a:srgbClr val="555555"/>
                </a:solidFill>
                <a:latin typeface="Arial"/>
              </a:rPr>
              <a:t>— Atlantic Forest already lost 87%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2461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Arial"/>
              </a:rPr>
              <a:t>The Cerrado harbors 5% of the world's biodiversity and regulates the water cycle of Brazil's main river basins. It receives less than 10% of Amazon Fund resources.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864608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99999"/>
                </a:solidFill>
                <a:latin typeface="Arial"/>
              </a:rPr>
              <a:t>Source: INPE/PRODES · Calculated from GeoParquet data  ·  MapBiomas 2023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D47A1"/>
                </a:solidFill>
                <a:latin typeface="Arial"/>
              </a:rPr>
              <a:t>FOREST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29768"/>
            <a:ext cx="8503920" cy="45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75488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11111"/>
                </a:solidFill>
                <a:latin typeface="Arial"/>
              </a:rPr>
              <a:t>Atlantic Forest: 13% remains. Pantanal: 86%. Cerrado: 53%.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rial"/>
              </a:rPr>
              <a:t>Remaining native vegetation by biome (% of original area)  ·  MapBiomas 2023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81328"/>
            <a:ext cx="8412480" cy="34274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4864608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99999"/>
                </a:solidFill>
                <a:latin typeface="Arial"/>
              </a:rPr>
              <a:t>Source: MapBiomas 2023 · Annual Land Cover and Use Mapping Project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D47A1"/>
                </a:solidFill>
                <a:latin typeface="Arial"/>
              </a:rPr>
              <a:t>2028 TARGET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29768"/>
            <a:ext cx="8503920" cy="45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75488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11111"/>
                </a:solidFill>
                <a:latin typeface="Arial"/>
              </a:rPr>
              <a:t>The 4000 km² target for 2028 requires a further 91% cut.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rial"/>
              </a:rPr>
              <a:t>Observed trend and reduction target (km²)  ·  2000–2028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81328"/>
            <a:ext cx="8778240" cy="38674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4864608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99999"/>
                </a:solidFill>
                <a:latin typeface="Arial"/>
              </a:rPr>
              <a:t>Source: INPE/PRODES · Calculated from GeoParquet data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D47A1"/>
                </a:solidFill>
                <a:latin typeface="Arial"/>
              </a:rPr>
              <a:t>GLOBAL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29768"/>
            <a:ext cx="8503920" cy="45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75488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11111"/>
                </a:solidFill>
                <a:latin typeface="Arial"/>
              </a:rPr>
              <a:t>Brazil leads the decline — but remains the world's largest tropical deforester.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rial"/>
              </a:rPr>
              <a:t>Tropical forest loss by country (km²)  ·  2023  ·  Source: GFW / FAO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81328"/>
            <a:ext cx="8412480" cy="314345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443484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999999"/>
                </a:solidFill>
                <a:latin typeface="Arial"/>
              </a:rPr>
              <a:t>* GFW measures tree-cover loss; PRODES measures deforestation. Different methodologies.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864608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99999"/>
                </a:solidFill>
                <a:latin typeface="Arial"/>
              </a:rPr>
              <a:t>Source: Global Forest Watch / FAO 2023 · Approximate data — methodologies differ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D47A1"/>
                </a:solidFill>
                <a:latin typeface="Arial"/>
              </a:rPr>
              <a:t>DRIVERS &amp; 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29768"/>
            <a:ext cx="8503920" cy="45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75488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11111"/>
                </a:solidFill>
                <a:latin typeface="Arial"/>
              </a:rPr>
              <a:t>What drove the decline — and what could reverse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5331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Arial"/>
              </a:rPr>
              <a:t>▲  Enforcement strengthened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9164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Arial"/>
              </a:rPr>
              <a:t>Ibama and Federal Police multiplied fines and embargoes from 2023. Coordinated operations reduced illegal deforestation.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49631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Arial"/>
              </a:rPr>
              <a:t>▲  Climate finance increased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83464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Arial"/>
              </a:rPr>
              <a:t>Amazon Fund received BRL 3 bn+ in 2023–24 (Norway, Germany, USA). First phase of REDD+ Amazon operational.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63931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Arial"/>
              </a:rPr>
              <a:t>▼  Risk: land regularization bills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977639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Arial"/>
              </a:rPr>
              <a:t>Legislation that would amnesty illegal deforestation before 2008 risks creating incentives for new environmental crimes.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rial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01752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Three messages from this briefing.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24128"/>
            <a:ext cx="8631936" cy="117043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024128"/>
            <a:ext cx="347472" cy="117043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" y="1371600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115568"/>
            <a:ext cx="8092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Arial"/>
              </a:rPr>
              <a:t>The 99% decline is real — but fragile.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99616"/>
            <a:ext cx="8092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Arial"/>
              </a:rPr>
              <a:t>The drop since 2007 is historic. Any shift in enforcement policy could quickly reverse those gains.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2322576"/>
            <a:ext cx="8631936" cy="117043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2322576"/>
            <a:ext cx="347472" cy="117043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" y="2670048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14016"/>
            <a:ext cx="8092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Arial"/>
              </a:rPr>
              <a:t>The Cerrado is in silent crisis.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798064"/>
            <a:ext cx="8092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Arial"/>
              </a:rPr>
              <a:t>It loses as much as the Amazon, retains only 53% of original cover, and receives far less resources and political attention.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3621024"/>
            <a:ext cx="8631936" cy="117043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3621024"/>
            <a:ext cx="347472" cy="117043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" y="3968496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712463"/>
            <a:ext cx="8092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Arial"/>
              </a:rPr>
              <a:t>The 4,000 km² target requires action now.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096512"/>
            <a:ext cx="8092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Arial"/>
              </a:rPr>
              <a:t>To reach the target, Brazil must cut a further 91% in the next three years. Time is running short.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